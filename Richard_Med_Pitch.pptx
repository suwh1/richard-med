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46885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6000" b="1" i="0">
                <a:solidFill>
                  <a:srgbClr val="0F172A"/>
                </a:solidFill>
                <a:latin typeface="Arial" panose="020B0704020202020204"/>
              </a:rPr>
              <a:t>Richard </a:t>
            </a:r>
            <a:r>
              <a:rPr sz="6000" b="1" i="0">
                <a:solidFill>
                  <a:srgbClr val="D97757"/>
                </a:solidFill>
                <a:latin typeface="Arial" panose="020B0704020202020204"/>
              </a:rPr>
              <a:t>Med</a:t>
            </a:r>
            <a:endParaRPr sz="6000" b="1" i="0">
              <a:solidFill>
                <a:srgbClr val="D97757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2788920"/>
            <a:ext cx="6766560" cy="40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0F172A"/>
                </a:solidFill>
                <a:latin typeface="Arial" panose="020B0704020202020204"/>
              </a:rPr>
              <a:t>Все цены на медуслуги </a:t>
            </a:r>
            <a:r>
              <a:rPr sz="2400" b="1" i="0">
                <a:solidFill>
                  <a:srgbClr val="D97757"/>
                </a:solidFill>
                <a:latin typeface="Arial" panose="020B0704020202020204"/>
              </a:rPr>
              <a:t>в одном поиске</a:t>
            </a:r>
            <a:endParaRPr sz="2400" b="1" i="0">
              <a:solidFill>
                <a:srgbClr val="D97757"/>
              </a:solidFill>
              <a:latin typeface="Arial" panose="020B07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3520440"/>
            <a:ext cx="6675120" cy="241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475569"/>
                </a:solidFill>
                <a:latin typeface="Arial" panose="020B0704020202020204"/>
              </a:rPr>
              <a:t>Кейс 1 · MedServicePrice.kz  «Aviasales для медицины»</a:t>
            </a:r>
            <a:endParaRPr sz="150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910" y="5212080"/>
            <a:ext cx="2767330" cy="329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172A"/>
                </a:solidFill>
                <a:latin typeface="Arial" panose="020B0704020202020204"/>
              </a:rPr>
              <a:t>Dauren Apas</a:t>
            </a:r>
            <a:r>
              <a:rPr sz="1500" b="0" i="0">
                <a:solidFill>
                  <a:srgbClr val="94A3B8"/>
                </a:solidFill>
                <a:latin typeface="Arial" panose="020B0704020202020204"/>
              </a:rPr>
              <a:t>   ·   </a:t>
            </a:r>
            <a:r>
              <a:rPr sz="1500" b="1" i="0">
                <a:solidFill>
                  <a:srgbClr val="0F172A"/>
                </a:solidFill>
                <a:latin typeface="Arial" panose="020B0704020202020204"/>
              </a:rPr>
              <a:t>Fatikh Aidyn</a:t>
            </a:r>
            <a:endParaRPr sz="150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6656" y="5715000"/>
            <a:ext cx="64008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rial" panose="020B0704020202020204"/>
              </a:rPr>
              <a:t>Команда 66  😈</a:t>
            </a:r>
            <a:r>
              <a:rPr sz="1300" b="1" i="0">
                <a:solidFill>
                  <a:srgbClr val="94A3B8"/>
                </a:solidFill>
                <a:latin typeface="Arial" panose="020B0704020202020204"/>
              </a:rPr>
              <a:t>    ·    </a:t>
            </a:r>
            <a:r>
              <a:rPr lang="ru-RU" sz="1300" b="1" i="0">
                <a:solidFill>
                  <a:srgbClr val="94A3B8"/>
                </a:solidFill>
                <a:latin typeface="Arial" panose="020B0704020202020204"/>
              </a:rPr>
              <a:t>Алматы</a:t>
            </a:r>
            <a:endParaRPr sz="1300" b="1" i="0">
              <a:solidFill>
                <a:srgbClr val="94A3B8"/>
              </a:solidFill>
              <a:latin typeface="Arial" panose="020B0704020202020204"/>
            </a:endParaRPr>
          </a:p>
        </p:txBody>
      </p:sp>
      <p:pic>
        <p:nvPicPr>
          <p:cNvPr id="23" name="Picture 22" descr="shot-land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4985" y="1225550"/>
            <a:ext cx="5327015" cy="33299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35240" y="488569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94A3B8"/>
                </a:solidFill>
                <a:latin typeface="Arial" panose="020B0704020202020204"/>
              </a:rPr>
              <a:t>Живой прототип</a:t>
            </a:r>
            <a:endParaRPr sz="1200" b="1" i="0">
              <a:solidFill>
                <a:srgbClr val="94A3B8"/>
              </a:solidFill>
              <a:latin typeface="Arial" panose="020B0704020202020204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76910" y="139065"/>
            <a:ext cx="4986655" cy="1029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Arial" panose="020B0704020202020204"/>
              </a:rPr>
              <a:t>Киллер-фичи</a:t>
            </a:r>
            <a:r>
              <a:rPr sz="3000" b="1" i="0">
                <a:solidFill>
                  <a:srgbClr val="D97757"/>
                </a:solidFill>
                <a:latin typeface="Arial" panose="020B0704020202020204"/>
              </a:rPr>
              <a:t>  —  почему мы выигрываем</a:t>
            </a:r>
            <a:endParaRPr sz="3000" b="1" i="0">
              <a:solidFill>
                <a:srgbClr val="D97757"/>
              </a:solidFill>
              <a:latin typeface="Arial" panose="020B070402020202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18872" cy="1874519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084832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 i="0">
                <a:solidFill>
                  <a:srgbClr val="0F172A"/>
                </a:solidFill>
                <a:latin typeface="Arial" panose="020B0704020202020204"/>
              </a:rPr>
              <a:t>🛡</a:t>
            </a:r>
            <a:endParaRPr sz="3000" b="0" i="0">
              <a:solidFill>
                <a:srgbClr val="0F172A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74519" y="213969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 panose="020B0704020202020204"/>
              </a:rPr>
              <a:t>Price Passport</a:t>
            </a:r>
            <a:endParaRPr sz="2000" b="1" i="0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74519" y="2670048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BD5E1"/>
                </a:solidFill>
                <a:latin typeface="Arial" panose="020B0704020202020204"/>
              </a:rPr>
              <a:t>Каждая цена проверяема: источник, дата парсинга, хэш, уверенность матча.</a:t>
            </a:r>
            <a:endParaRPr sz="1300" b="0" i="0">
              <a:solidFill>
                <a:srgbClr val="CBD5E1"/>
              </a:solidFill>
              <a:latin typeface="Arial" panose="020B07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118872" cy="1874519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84832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 i="0">
                <a:solidFill>
                  <a:srgbClr val="0F172A"/>
                </a:solidFill>
                <a:latin typeface="Arial" panose="020B0704020202020204"/>
              </a:rPr>
              <a:t>🧭</a:t>
            </a:r>
            <a:endParaRPr sz="3000" b="0" i="0">
              <a:solidFill>
                <a:srgbClr val="0F172A"/>
              </a:solidFill>
              <a:latin typeface="Arial" panose="020B07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0" y="213969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 panose="020B0704020202020204"/>
              </a:rPr>
              <a:t>Честная нормализация</a:t>
            </a:r>
            <a:endParaRPr sz="2000" b="1" i="0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8080" y="2670048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BD5E1"/>
                </a:solidFill>
                <a:latin typeface="Arial" panose="020B0704020202020204"/>
              </a:rPr>
              <a:t>1 281 услуга. Каскад: точное → синонимы → fuzzy → semantic. Сомнения — в очередь.</a:t>
            </a:r>
            <a:endParaRPr sz="1300" b="0" i="0">
              <a:solidFill>
                <a:srgbClr val="CBD5E1"/>
              </a:solidFill>
              <a:latin typeface="Arial" panose="020B07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904487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904487"/>
            <a:ext cx="118872" cy="1874519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416052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 i="0">
                <a:solidFill>
                  <a:srgbClr val="0F172A"/>
                </a:solidFill>
                <a:latin typeface="Arial" panose="020B0704020202020204"/>
              </a:rPr>
              <a:t>🗺</a:t>
            </a:r>
            <a:endParaRPr sz="3000" b="0" i="0">
              <a:solidFill>
                <a:srgbClr val="0F172A"/>
              </a:solidFill>
              <a:latin typeface="Arial" panose="020B07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74519" y="4215383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 panose="020B0704020202020204"/>
              </a:rPr>
              <a:t>Карта + сравнение</a:t>
            </a:r>
            <a:endParaRPr sz="2000" b="1" i="0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74519" y="4745736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BD5E1"/>
                </a:solidFill>
                <a:latin typeface="Arial" panose="020B0704020202020204"/>
              </a:rPr>
              <a:t>Цена-пины по городу, синхрон. список ↔ карта, сравнение топ-клиник, маршрут.</a:t>
            </a:r>
            <a:endParaRPr sz="1300" b="0" i="0">
              <a:solidFill>
                <a:srgbClr val="CBD5E1"/>
              </a:solidFill>
              <a:latin typeface="Arial" panose="020B07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3904487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3904487"/>
            <a:ext cx="118872" cy="1874519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6052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 i="0">
                <a:solidFill>
                  <a:srgbClr val="0F172A"/>
                </a:solidFill>
                <a:latin typeface="Arial" panose="020B0704020202020204"/>
              </a:rPr>
              <a:t>🤖</a:t>
            </a:r>
            <a:endParaRPr sz="3000" b="0" i="0">
              <a:solidFill>
                <a:srgbClr val="0F172A"/>
              </a:solidFill>
              <a:latin typeface="Arial" panose="020B07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8080" y="4215383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 panose="020B0704020202020204"/>
              </a:rPr>
              <a:t>AI-обзор в сравнении</a:t>
            </a:r>
            <a:endParaRPr sz="2000" b="1" i="0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98080" y="4745736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BD5E1"/>
                </a:solidFill>
                <a:latin typeface="Arial" panose="020B0704020202020204"/>
              </a:rPr>
              <a:t>ИИ объясняет разницу клиник простым языком — за вас выбирает выгодное.</a:t>
            </a:r>
            <a:endParaRPr sz="1300" b="0" i="0">
              <a:solidFill>
                <a:srgbClr val="CBD5E1"/>
              </a:solidFill>
              <a:latin typeface="Arial" panose="020B07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94A3B8"/>
                </a:solidFill>
                <a:latin typeface="Arial" panose="020B0704020202020204"/>
              </a:rPr>
              <a:t>+ изоляция источников · бейджи свежести · админка Source Health · Run Parser</a:t>
            </a:r>
            <a:endParaRPr sz="1300" b="0" i="0">
              <a:solidFill>
                <a:srgbClr val="94A3B8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21208"/>
            <a:ext cx="146304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97757"/>
                </a:solidFill>
                <a:latin typeface="Arial" panose="020B0704020202020204"/>
              </a:rPr>
              <a:t>ВСЁ, ЧТО МЫ ПОСТРОИЛИ</a:t>
            </a:r>
            <a:endParaRPr sz="1300" b="1" i="0">
              <a:solidFill>
                <a:srgbClr val="D97757"/>
              </a:solidFill>
              <a:latin typeface="Arial" panose="020B07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0F172A"/>
                </a:solidFill>
                <a:latin typeface="Arial" panose="020B0704020202020204"/>
              </a:rPr>
              <a:t>Полный продукт, </a:t>
            </a:r>
            <a:r>
              <a:rPr sz="2800" b="1" i="0">
                <a:solidFill>
                  <a:srgbClr val="D97757"/>
                </a:solidFill>
                <a:latin typeface="Arial" panose="020B0704020202020204"/>
              </a:rPr>
              <a:t>а не парсер + таблица</a:t>
            </a:r>
            <a:endParaRPr sz="2800" b="1" i="0">
              <a:solidFill>
                <a:srgbClr val="D97757"/>
              </a:solidFill>
              <a:latin typeface="Arial" panose="020B07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97757"/>
                </a:solidFill>
                <a:latin typeface="Arial" panose="020B0704020202020204"/>
              </a:rPr>
              <a:t>● киллер-фича</a:t>
            </a:r>
            <a:endParaRPr sz="1200" b="1" i="0">
              <a:solidFill>
                <a:srgbClr val="D97757"/>
              </a:solidFill>
              <a:latin typeface="Arial" panose="020B07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743200" cy="40690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>
            <a:outerShdw blurRad="90000" dist="28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2743200" cy="566928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04288"/>
            <a:ext cx="2743200" cy="274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Arial" panose="020B0704020202020204"/>
              </a:rPr>
              <a:t>Поиск и UX</a:t>
            </a:r>
            <a:endParaRPr sz="1450" b="1" i="0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77824" y="29077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9806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rial" panose="020B0704020202020204"/>
              </a:rPr>
              <a:t>Поиск + автодополнение</a:t>
            </a:r>
            <a:endParaRPr sz="120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77824" y="35478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3814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rial" panose="020B0704020202020204"/>
              </a:rPr>
              <a:t>Карточки «цена-герой»</a:t>
            </a:r>
            <a:endParaRPr sz="120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77824" y="41879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7822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rial" panose="020B0704020202020204"/>
              </a:rPr>
              <a:t>Сорт: Оптимальные / Дешевле / Новые</a:t>
            </a:r>
            <a:endParaRPr sz="120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77824" y="48280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1830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rial" panose="020B0704020202020204"/>
              </a:rPr>
              <a:t>Фильтры: город · категория · цена</a:t>
            </a:r>
            <a:endParaRPr sz="120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77824" y="54681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5838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rial" panose="020B0704020202020204"/>
              </a:rPr>
              <a:t>Адаптив + мобильный режим</a:t>
            </a:r>
            <a:endParaRPr sz="120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502152" y="2011680"/>
            <a:ext cx="2743200" cy="40690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>
            <a:outerShdw blurRad="90000" dist="28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02152" y="2011680"/>
            <a:ext cx="2743200" cy="566928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02152" y="2304288"/>
            <a:ext cx="2743200" cy="274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201168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Arial" panose="020B0704020202020204"/>
              </a:rPr>
              <a:t>Данные и доверие</a:t>
            </a:r>
            <a:endParaRPr sz="1450" b="1" i="0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739896" y="29077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9352" y="279806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BF5F3F"/>
                </a:solidFill>
                <a:latin typeface="Arial" panose="020B0704020202020204"/>
              </a:rPr>
              <a:t>Price Passport</a:t>
            </a:r>
            <a:endParaRPr sz="1200" b="1" i="0">
              <a:solidFill>
                <a:srgbClr val="BF5F3F"/>
              </a:solidFill>
              <a:latin typeface="Arial" panose="020B07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739896" y="35478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9352" y="343814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BF5F3F"/>
                </a:solidFill>
                <a:latin typeface="Arial" panose="020B0704020202020204"/>
              </a:rPr>
              <a:t>4 источника данных</a:t>
            </a:r>
            <a:endParaRPr sz="1200" b="1" i="0">
              <a:solidFill>
                <a:srgbClr val="BF5F3F"/>
              </a:solidFill>
              <a:latin typeface="Arial" panose="020B070402020202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739896" y="41879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59352" y="407822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BF5F3F"/>
                </a:solidFill>
                <a:latin typeface="Arial" panose="020B0704020202020204"/>
              </a:rPr>
              <a:t>Сырой → нормализованный слой</a:t>
            </a:r>
            <a:endParaRPr sz="1200" b="1" i="0">
              <a:solidFill>
                <a:srgbClr val="BF5F3F"/>
              </a:solidFill>
              <a:latin typeface="Arial" panose="020B070402020202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739896" y="48280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59352" y="471830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rial" panose="020B0704020202020204"/>
              </a:rPr>
              <a:t>Бейджи свежести (&gt;30д скрыты)</a:t>
            </a:r>
            <a:endParaRPr sz="120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739896" y="54681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59352" y="535838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rial" panose="020B0704020202020204"/>
              </a:rPr>
              <a:t>Очередь несматченных услуг</a:t>
            </a:r>
            <a:endParaRPr sz="120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364224" y="2011680"/>
            <a:ext cx="2743200" cy="40690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>
            <a:outerShdw blurRad="90000" dist="28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64224" y="2011680"/>
            <a:ext cx="2743200" cy="566928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64224" y="2304288"/>
            <a:ext cx="2743200" cy="274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92824" y="201168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Arial" panose="020B0704020202020204"/>
              </a:rPr>
              <a:t>Карта и сравнение</a:t>
            </a:r>
            <a:endParaRPr sz="1450" b="1" i="0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601968" y="29077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21424" y="279806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BF5F3F"/>
                </a:solidFill>
                <a:latin typeface="Arial" panose="020B0704020202020204"/>
              </a:rPr>
              <a:t>Карта цен (пины)</a:t>
            </a:r>
            <a:endParaRPr sz="1200" b="1" i="0">
              <a:solidFill>
                <a:srgbClr val="BF5F3F"/>
              </a:solidFill>
              <a:latin typeface="Arial" panose="020B070402020202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601968" y="35478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21424" y="343814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BF5F3F"/>
                </a:solidFill>
                <a:latin typeface="Arial" panose="020B0704020202020204"/>
              </a:rPr>
              <a:t>Синхрон. список ↔ карта</a:t>
            </a:r>
            <a:endParaRPr sz="1200" b="1" i="0">
              <a:solidFill>
                <a:srgbClr val="BF5F3F"/>
              </a:solidFill>
              <a:latin typeface="Arial" panose="020B0704020202020204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601968" y="41879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21424" y="407822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rial" panose="020B0704020202020204"/>
              </a:rPr>
              <a:t>Сравнение топ-клиник</a:t>
            </a:r>
            <a:endParaRPr sz="120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601968" y="48280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21424" y="471830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BF5F3F"/>
                </a:solidFill>
                <a:latin typeface="Arial" panose="020B0704020202020204"/>
              </a:rPr>
              <a:t>AI-обзор сравнения</a:t>
            </a:r>
            <a:endParaRPr sz="1200" b="1" i="0">
              <a:solidFill>
                <a:srgbClr val="BF5F3F"/>
              </a:solidFill>
              <a:latin typeface="Arial" panose="020B0704020202020204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601968" y="54681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21424" y="535838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rial" panose="020B0704020202020204"/>
              </a:rPr>
              <a:t>Маршрут (deep-link 2GIS)</a:t>
            </a:r>
            <a:endParaRPr sz="120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226296" y="2011680"/>
            <a:ext cx="2743200" cy="40690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>
            <a:outerShdw blurRad="90000" dist="28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226296" y="2011680"/>
            <a:ext cx="2743200" cy="566928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26296" y="2304288"/>
            <a:ext cx="2743200" cy="274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54896" y="201168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Arial" panose="020B0704020202020204"/>
              </a:rPr>
              <a:t>Клиника и аккаунт</a:t>
            </a:r>
            <a:endParaRPr sz="1450" b="1" i="0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464040" y="29077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3496" y="279806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rial" panose="020B0704020202020204"/>
              </a:rPr>
              <a:t>Карточка клиники + филиалы</a:t>
            </a:r>
            <a:endParaRPr sz="120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464040" y="35478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3496" y="343814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BF5F3F"/>
                </a:solidFill>
                <a:latin typeface="Arial" panose="020B0704020202020204"/>
              </a:rPr>
              <a:t>862 отзыва + рейтинги 2GIS</a:t>
            </a:r>
            <a:endParaRPr sz="1200" b="1" i="0">
              <a:solidFill>
                <a:srgbClr val="BF5F3F"/>
              </a:solidFill>
              <a:latin typeface="Arial" panose="020B0704020202020204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9464040" y="41879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83496" y="407822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rial" panose="020B0704020202020204"/>
              </a:rPr>
              <a:t>Аналитика цен (min/avg/max)</a:t>
            </a:r>
            <a:endParaRPr sz="120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464040" y="48280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83496" y="471830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BF5F3F"/>
                </a:solidFill>
                <a:latin typeface="Arial" panose="020B0704020202020204"/>
              </a:rPr>
              <a:t>Кабинет + отслеживание цен</a:t>
            </a:r>
            <a:endParaRPr sz="1200" b="1" i="0">
              <a:solidFill>
                <a:srgbClr val="BF5F3F"/>
              </a:solidFill>
              <a:latin typeface="Arial" panose="020B0704020202020204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464040" y="54681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83496" y="5358384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BF5F3F"/>
                </a:solidFill>
                <a:latin typeface="Arial" panose="020B0704020202020204"/>
              </a:rPr>
              <a:t>Админка Source Health</a:t>
            </a:r>
            <a:endParaRPr sz="1200" b="1" i="0">
              <a:solidFill>
                <a:srgbClr val="BF5F3F"/>
              </a:solidFill>
              <a:latin typeface="Arial" panose="020B0704020202020204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647395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 panose="020B0704020202020204"/>
              </a:rPr>
              <a:t>Richard Med</a:t>
            </a:r>
            <a:r>
              <a:rPr sz="1050" b="0" i="0">
                <a:solidFill>
                  <a:srgbClr val="CBD5E1"/>
                </a:solidFill>
                <a:latin typeface="Arial" panose="020B0704020202020204"/>
              </a:rPr>
              <a:t>   ·   richard-med.vercel.app  (демо — локально)</a:t>
            </a:r>
            <a:endParaRPr sz="1050" b="0" i="0">
              <a:solidFill>
                <a:srgbClr val="CBD5E1"/>
              </a:solidFill>
              <a:latin typeface="Arial" panose="020B070402020202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955279" y="6473952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CBD5E1"/>
                </a:solidFill>
                <a:latin typeface="Arial" panose="020B0704020202020204"/>
              </a:rPr>
              <a:t>Команда 66  </a:t>
            </a:r>
            <a:r>
              <a:rPr sz="1100" b="1" i="0">
                <a:solidFill>
                  <a:srgbClr val="FFFFFF"/>
                </a:solidFill>
                <a:latin typeface="Arial" panose="020B0704020202020204"/>
              </a:rPr>
              <a:t>😈</a:t>
            </a:r>
            <a:endParaRPr sz="1100" b="1" i="0">
              <a:solidFill>
                <a:srgbClr val="FFFFFF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0F172A"/>
                </a:solidFill>
                <a:latin typeface="Arial" panose="020B0704020202020204"/>
              </a:rPr>
              <a:t>Краткое описание проделанной работы</a:t>
            </a:r>
            <a:endParaRPr sz="2800" b="1" i="0">
              <a:solidFill>
                <a:srgbClr val="0F172A"/>
              </a:solidFill>
              <a:latin typeface="Arial" panose="020B07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BF5F3F"/>
                </a:solidFill>
                <a:latin typeface="Arial" panose="020B0704020202020204"/>
              </a:rPr>
              <a:t>Какие ресурсы были использованы?</a:t>
            </a:r>
            <a:endParaRPr sz="1600" b="1" i="0">
              <a:solidFill>
                <a:srgbClr val="BF5F3F"/>
              </a:solidFill>
              <a:latin typeface="Arial" panose="020B07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53212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Frontend 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React 19 · TypeScript · Tailwind v4 · shadcn/ui · Leaflet+OSM · Vite · Vercel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Backend 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Python · FastAPI · SQLAlchemy 2.0 · Pydantic · APScheduler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БД 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PostgreSQL 16 + pgvector + pg_trgm / full-text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Парсинг 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httpx / requests + BeautifulSoup (офлайн-конвейер)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Матчинг 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RapidFuzz + мультиязычные эмбеддинги (semantic)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Гео / данные 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Yandex Geocoder · 2GIS Public API (отзывы)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Источники 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KDL Olymp · DOQ · Invitro · Helix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Инструменты 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Git/GitHub · Docker · pytest · Vitest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6520" y="13716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BF5F3F"/>
                </a:solidFill>
                <a:latin typeface="Arial" panose="020B0704020202020204"/>
              </a:rPr>
              <a:t>Какие результаты получили</a:t>
            </a:r>
            <a:endParaRPr sz="1600" b="1" i="0">
              <a:solidFill>
                <a:srgbClr val="BF5F3F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52578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Рабочий продукт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— поиск → карта → сравнение → клиника → админка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4 источника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(порог кейса 3) · 2 города · 4 категории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1 281 услуга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в каталоге (порог 50) · честная нормализация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Price Passport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— источник, дата, хэш, уверенность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862 отзыва + рейтинги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клиник из 2GIS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AI-обзор + кабинет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с отслеживанием цен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28 эндпоинтов · 23 тест-файла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(TDD) · поиск &lt;1 сек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Arial" panose="020B0704020202020204"/>
              </a:rPr>
              <a:t>Адаптерная архитектура </a:t>
            </a:r>
            <a:r>
              <a:rPr sz="1250" b="0" i="0">
                <a:solidFill>
                  <a:srgbClr val="475569"/>
                </a:solidFill>
                <a:latin typeface="Arial" panose="020B0704020202020204"/>
              </a:rPr>
              <a:t>— новый источник = 1 файл</a:t>
            </a:r>
            <a:endParaRPr sz="1250" b="0" i="0">
              <a:solidFill>
                <a:srgbClr val="475569"/>
              </a:solidFill>
              <a:latin typeface="Arial" panose="020B07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 panose="020B0704020202020204"/>
              </a:rPr>
              <a:t>Richard Med</a:t>
            </a:r>
            <a:r>
              <a:rPr sz="1050" b="0" i="0">
                <a:solidFill>
                  <a:srgbClr val="CBD5E1"/>
                </a:solidFill>
                <a:latin typeface="Arial" panose="020B0704020202020204"/>
              </a:rPr>
              <a:t>   ·   richard-med.vercel.app  (демо — локально)</a:t>
            </a:r>
            <a:endParaRPr sz="1050" b="0" i="0">
              <a:solidFill>
                <a:srgbClr val="CBD5E1"/>
              </a:solidFill>
              <a:latin typeface="Arial" panose="020B07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CBD5E1"/>
                </a:solidFill>
                <a:latin typeface="Arial" panose="020B0704020202020204"/>
              </a:rPr>
              <a:t>Команда 66  </a:t>
            </a:r>
            <a:r>
              <a:rPr sz="1100" b="1" i="0">
                <a:solidFill>
                  <a:srgbClr val="FFFFFF"/>
                </a:solidFill>
                <a:latin typeface="Arial" panose="020B0704020202020204"/>
              </a:rPr>
              <a:t>😈</a:t>
            </a:r>
            <a:endParaRPr sz="1100" b="1" i="0">
              <a:solidFill>
                <a:srgbClr val="FFFFFF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0F172A"/>
                </a:solidFill>
                <a:latin typeface="Arial" panose="020B0704020202020204"/>
              </a:rPr>
              <a:t>Демонстрация прототипа</a:t>
            </a:r>
            <a:endParaRPr sz="3000" b="1" i="0">
              <a:solidFill>
                <a:srgbClr val="0F172A"/>
              </a:solidFill>
              <a:latin typeface="Arial" panose="020B07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115568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7086600" cy="461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28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-land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84831"/>
            <a:ext cx="6629400" cy="4143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44768"/>
            <a:ext cx="7086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94A3B8"/>
                </a:solidFill>
                <a:latin typeface="Arial" panose="020B0704020202020204"/>
              </a:rPr>
              <a:t>Главный экран · полное демо — локально, на засеянной БД</a:t>
            </a:r>
            <a:endParaRPr sz="1150" b="1" i="0">
              <a:solidFill>
                <a:srgbClr val="94A3B8"/>
              </a:solidFill>
              <a:latin typeface="Arial" panose="020B07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01000" y="1463040"/>
            <a:ext cx="3566160" cy="46177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97757"/>
                </a:solidFill>
                <a:latin typeface="Arial" panose="020B0704020202020204"/>
              </a:rPr>
              <a:t>СЦЕНАРИЙ (2 мин)</a:t>
            </a:r>
            <a:endParaRPr sz="1300" b="1" i="0">
              <a:solidFill>
                <a:srgbClr val="D97757"/>
              </a:solidFill>
              <a:latin typeface="Arial" panose="020B07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75320" y="2240280"/>
            <a:ext cx="32004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CBD5E1"/>
                </a:solidFill>
                <a:latin typeface="Arial" panose="020B0704020202020204"/>
              </a:rPr>
              <a:t>1 · Поиск «ОАК» → карточки цен</a:t>
            </a:r>
            <a:endParaRPr sz="1300" b="0" i="0">
              <a:solidFill>
                <a:srgbClr val="CBD5E1"/>
              </a:solidFill>
              <a:latin typeface="Arial" panose="020B0704020202020204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CBD5E1"/>
                </a:solidFill>
                <a:latin typeface="Arial" panose="020B0704020202020204"/>
              </a:rPr>
              <a:t>2 · Сорт Оптимальные / Дешевле</a:t>
            </a:r>
            <a:endParaRPr sz="1300" b="0" i="0">
              <a:solidFill>
                <a:srgbClr val="CBD5E1"/>
              </a:solidFill>
              <a:latin typeface="Arial" panose="020B0704020202020204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CBD5E1"/>
                </a:solidFill>
                <a:latin typeface="Arial" panose="020B0704020202020204"/>
              </a:rPr>
              <a:t>3 · Price Passport — источник</a:t>
            </a:r>
            <a:endParaRPr sz="1300" b="0" i="0">
              <a:solidFill>
                <a:srgbClr val="CBD5E1"/>
              </a:solidFill>
              <a:latin typeface="Arial" panose="020B0704020202020204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CBD5E1"/>
                </a:solidFill>
                <a:latin typeface="Arial" panose="020B0704020202020204"/>
              </a:rPr>
              <a:t>4 · Карта: пины ↔ список</a:t>
            </a:r>
            <a:endParaRPr sz="1300" b="0" i="0">
              <a:solidFill>
                <a:srgbClr val="CBD5E1"/>
              </a:solidFill>
              <a:latin typeface="Arial" panose="020B0704020202020204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CBD5E1"/>
                </a:solidFill>
                <a:latin typeface="Arial" panose="020B0704020202020204"/>
              </a:rPr>
              <a:t>5 · Сравнение + AI-обзор</a:t>
            </a:r>
            <a:endParaRPr sz="1300" b="0" i="0">
              <a:solidFill>
                <a:srgbClr val="CBD5E1"/>
              </a:solidFill>
              <a:latin typeface="Arial" panose="020B0704020202020204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CBD5E1"/>
                </a:solidFill>
                <a:latin typeface="Arial" panose="020B0704020202020204"/>
              </a:rPr>
              <a:t>6 · Клиника: отзывы 2GIS</a:t>
            </a:r>
            <a:endParaRPr sz="1300" b="0" i="0">
              <a:solidFill>
                <a:srgbClr val="CBD5E1"/>
              </a:solidFill>
              <a:latin typeface="Arial" panose="020B0704020202020204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CBD5E1"/>
                </a:solidFill>
                <a:latin typeface="Arial" panose="020B0704020202020204"/>
              </a:rPr>
              <a:t>7 · Админка: Source Health</a:t>
            </a:r>
            <a:endParaRPr sz="1300" b="0" i="0">
              <a:solidFill>
                <a:srgbClr val="CBD5E1"/>
              </a:solidFill>
              <a:latin typeface="Arial" panose="020B07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75320" y="5486400"/>
            <a:ext cx="3017520" cy="457200"/>
          </a:xfrm>
          <a:prstGeom prst="roundRect">
            <a:avLst>
              <a:gd name="adj" fmla="val 3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54864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 panose="020B0704020202020204"/>
              </a:rPr>
              <a:t>говорим во время демо</a:t>
            </a:r>
            <a:endParaRPr sz="1200" b="1" i="0">
              <a:solidFill>
                <a:srgbClr val="FFFFFF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2673</Words>
  <Application>WPS Presentation</Application>
  <PresentationFormat>On-screen Show (4:3)</PresentationFormat>
  <Paragraphs>142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Helvetica Neue</vt:lpstr>
      <vt:lpstr>宋体-简</vt:lpstr>
      <vt:lpstr>Apple Color Emoji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dauren</cp:lastModifiedBy>
  <cp:revision>4</cp:revision>
  <dcterms:created xsi:type="dcterms:W3CDTF">2026-06-28T11:41:12Z</dcterms:created>
  <dcterms:modified xsi:type="dcterms:W3CDTF">2026-06-28T11:41:12Z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9329AA2F426675810F08416A086D1A60_42</vt:lpwstr>
  </property>
  <property fmtid="{D5CDD505-2E9C-101B-9397-08002B2CF9AE}" pid="3" name="KSOProductBuildVer">
    <vt:lpwstr>1033-12.1.26015.26015</vt:lpwstr>
  </property>
</Properties>
</file>